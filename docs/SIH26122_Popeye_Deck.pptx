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l.acm.org/doi/10.1145/1460299.1460318" TargetMode="External"/><Relationship Id="rId2" Type="http://schemas.openxmlformats.org/officeDocument/2006/relationships/hyperlink" Target="https://arxiv.org/abs/1908.10084" TargetMode="External"/><Relationship Id="rId3" Type="http://schemas.openxmlformats.org/officeDocument/2006/relationships/hyperlink" Target="https://networkx.org/" TargetMode="External"/><Relationship Id="rId4" Type="http://schemas.openxmlformats.org/officeDocument/2006/relationships/hyperlink" Target="https://github.com/rapidfuzz/RapidFuzz" TargetMode="External"/><Relationship Id="rId5" Type="http://schemas.openxmlformats.org/officeDocument/2006/relationships/hyperlink" Target="https://scikit-learn.org/stable/modules/generated/sklearn.feature_extraction.text.TfidfVectorizer.html" TargetMode="External"/><Relationship Id="rId6" Type="http://schemas.openxmlformats.org/officeDocument/2006/relationships/hyperlink" Target="https://paimana-proj.mospi.gov.in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777240"/>
            <a:ext cx="640080" cy="365760"/>
          </a:xfrm>
          <a:prstGeom prst="line">
            <a:avLst/>
          </a:prstGeom>
          <a:noFill/>
          <a:ln w="9525">
            <a:solidFill>
              <a:srgbClr val="93AA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78440" y="1143000"/>
            <a:ext cx="365760" cy="548640"/>
          </a:xfrm>
          <a:prstGeom prst="line">
            <a:avLst/>
          </a:prstGeom>
          <a:noFill/>
          <a:ln w="9525">
            <a:solidFill>
              <a:srgbClr val="93AAC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1143000"/>
            <a:ext cx="365760" cy="274320"/>
          </a:xfrm>
          <a:prstGeom prst="line">
            <a:avLst/>
          </a:prstGeom>
          <a:noFill/>
          <a:ln w="9525">
            <a:solidFill>
              <a:srgbClr val="93AA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731520"/>
            <a:ext cx="91440" cy="91440"/>
          </a:xfrm>
          <a:prstGeom prst="ellipse">
            <a:avLst/>
          </a:prstGeom>
          <a:solidFill>
            <a:srgbClr val="C7D9EC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1097280"/>
            <a:ext cx="91440" cy="91440"/>
          </a:xfrm>
          <a:prstGeom prst="ellipse">
            <a:avLst/>
          </a:prstGeom>
          <a:solidFill>
            <a:srgbClr val="B8760F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0" y="1645920"/>
            <a:ext cx="91440" cy="91440"/>
          </a:xfrm>
          <a:prstGeom prst="ellipse">
            <a:avLst/>
          </a:prstGeom>
          <a:solidFill>
            <a:srgbClr val="C7D9EC"/>
          </a:solidFill>
          <a:ln/>
        </p:spPr>
      </p:sp>
      <p:sp>
        <p:nvSpPr>
          <p:cNvPr id="8" name="Shape 6"/>
          <p:cNvSpPr/>
          <p:nvPr/>
        </p:nvSpPr>
        <p:spPr>
          <a:xfrm>
            <a:off x="11064240" y="1371600"/>
            <a:ext cx="91440" cy="91440"/>
          </a:xfrm>
          <a:prstGeom prst="ellipse">
            <a:avLst/>
          </a:prstGeom>
          <a:solidFill>
            <a:srgbClr val="C7D9E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640080"/>
            <a:ext cx="3749040" cy="329184"/>
          </a:xfrm>
          <a:prstGeom prst="roundRect">
            <a:avLst>
              <a:gd name="adj" fmla="val 16667"/>
            </a:avLst>
          </a:prstGeom>
          <a:solidFill>
            <a:srgbClr val="2B4C6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640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 INDIA HACKATHON 2026 · FINALS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9326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Data Capture &amp; Schedule-Linking Layer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40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Actual Progress Tracking for Infrastructure Project Management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Owner: Oil India Limited   ·   PS ID: SIH26122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715000"/>
            <a:ext cx="1965960" cy="475488"/>
          </a:xfrm>
          <a:prstGeom prst="roundRect">
            <a:avLst>
              <a:gd name="adj" fmla="val 13462"/>
            </a:avLst>
          </a:prstGeom>
          <a:solidFill>
            <a:srgbClr val="B876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71500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POPEYE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React · NetworkX · RapidFuzz · scikit-learn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2B4C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87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plans live in Primavera or MS Project down to L5/L6 activities; actual progress comes back through daily reports, spreadsheets, and verbal updates, each in a different format</a:t>
            </a:r>
            <a:endParaRPr lang="en-US" sz="1450" dirty="0"/>
          </a:p>
          <a:p>
            <a:pPr marL="342900" indent="-342900">
              <a:lnSpc>
                <a:spcPts val="2200"/>
              </a:lnSpc>
              <a:spcAft>
                <a:spcPts val="2000"/>
              </a:spcAft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describe the same activity differently across disciplines, for example “spool erected” versus the plan’s “Erect Line 24-inch XX inlet”</a:t>
            </a:r>
            <a:endParaRPr lang="en-US" sz="145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50" dirty="0">
                <a:solidFill>
                  <a:srgbClr val="1A2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is manual and slow, and everything learned about how a project actually ran is normally lost once the project closes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3E4C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48920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discipline reports progress in its own words. Nothing connects it back to the plan until now.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544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384048" cy="384048"/>
          </a:xfrm>
          <a:prstGeom prst="ellipse">
            <a:avLst/>
          </a:prstGeom>
          <a:solidFill>
            <a:srgbClr val="2B4C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31152" y="19751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931152" y="224028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voice, or spreadsheet input, whatever format the field already uses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2944368"/>
            <a:ext cx="384048" cy="384048"/>
          </a:xfrm>
          <a:prstGeom prst="ellipse">
            <a:avLst/>
          </a:prstGeom>
          <a:solidFill>
            <a:srgbClr val="B8760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31152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931152" y="317296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and semantic matching resolves it to the correct L5/L6 node, confidence scored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877056"/>
            <a:ext cx="384048" cy="384048"/>
          </a:xfrm>
          <a:prstGeom prst="ellipse">
            <a:avLst/>
          </a:prstGeom>
          <a:solidFill>
            <a:srgbClr val="2B4C6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931152" y="4105656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recomputes live with a full audit trail; nothing is overwritten silently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0" y="4809744"/>
            <a:ext cx="384048" cy="384048"/>
          </a:xfrm>
          <a:prstGeom prst="ellipse">
            <a:avLst/>
          </a:prstGeom>
          <a:solidFill>
            <a:srgbClr val="B8760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4773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50383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event feeds a queryable record for the next project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852160"/>
            <a:ext cx="35021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8521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Confidence-scored, never silent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25112" y="5852160"/>
            <a:ext cx="35021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325112" y="58521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CPM recompute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5852160"/>
            <a:ext cx="350215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2B4C6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01584" y="5852160"/>
            <a:ext cx="3502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beyond closure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2B4C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87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 &amp; STACK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C355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645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C355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45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C35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15087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1645920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1C35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1645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45536" y="3735324"/>
            <a:ext cx="155448" cy="219456"/>
          </a:xfrm>
          <a:prstGeom prst="rightArrow">
            <a:avLst/>
          </a:prstGeom>
          <a:solidFill>
            <a:srgbClr val="B8760F"/>
          </a:solidFill>
          <a:ln/>
        </p:spPr>
      </p:sp>
      <p:sp>
        <p:nvSpPr>
          <p:cNvPr id="18" name="Shape 16"/>
          <p:cNvSpPr/>
          <p:nvPr/>
        </p:nvSpPr>
        <p:spPr>
          <a:xfrm>
            <a:off x="5934456" y="3735324"/>
            <a:ext cx="155448" cy="219456"/>
          </a:xfrm>
          <a:prstGeom prst="rightArrow">
            <a:avLst/>
          </a:prstGeom>
          <a:solidFill>
            <a:srgbClr val="B8760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23376" y="3735324"/>
            <a:ext cx="155448" cy="219456"/>
          </a:xfrm>
          <a:prstGeom prst="rightArrow">
            <a:avLst/>
          </a:prstGeom>
          <a:solidFill>
            <a:srgbClr val="B8760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31927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" y="33924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" y="3648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free-text, and voice intake normalized to one shape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407822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FastAPI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0" y="213055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4448" y="220370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graph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245973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L5/L6 DAG, forward/backward pass, critical path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288950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NetworkX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74720" y="331927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84448" y="33924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engine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584448" y="3648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+ TF-IDF match, confidence scored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584448" y="407822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RapidFuzz · scikit-learn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0" y="450799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84448" y="458114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engine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84448" y="483717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Reapplies CPM, diffs critical path and at-risk tasks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584448" y="526694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NetworkX · Python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63640" y="331927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73368" y="33924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373368" y="3648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Queryable log of confirmed execution events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373368" y="407822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SQLAlchemy · SQLite/Postgres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52560" y="3319272"/>
            <a:ext cx="2286000" cy="1051560"/>
          </a:xfrm>
          <a:prstGeom prst="roundRect">
            <a:avLst>
              <a:gd name="adj" fmla="val 5217"/>
            </a:avLst>
          </a:prstGeom>
          <a:solidFill>
            <a:srgbClr val="F5F6F2"/>
          </a:solidFill>
          <a:ln w="9525">
            <a:solidFill>
              <a:srgbClr val="DDE1D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162288" y="33924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dashboard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62288" y="364845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Gantt, dependency graph, risk heatmap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9162288" y="4078224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876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· React · D3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architecture, data model, and API contracts documented in the project repository.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2B4C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87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READINESS &amp; RISK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B4C6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9659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24028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engine reused from a prior project; 19 automated tests passing today, not projected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B87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200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components; layers onto existing Primavera or MS Project rather than replacing 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913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B4C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1605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and voice input mirror how supervisors already report verbally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87375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B876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846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data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12064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runs locally on RapidFuzz and TF-IDF; field data need not leave OIL's own infrastructure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5544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mitigation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993392"/>
          <a:ext cx="5349240" cy="3566160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C6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Low-confidence 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Routed to manual review below threshold, never auto-accepted silently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adoption resistance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mirrors existing verbal reporting, not a new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connectivity gaps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capture with sync on reconnect — planned, not yet 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 drift across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memory surfaces reusable matching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987552"/>
            <a:ext cx="2926080" cy="329184"/>
          </a:xfrm>
          <a:prstGeom prst="roundRect">
            <a:avLst>
              <a:gd name="adj" fmla="val 16667"/>
            </a:avLst>
          </a:prstGeom>
          <a:solidFill>
            <a:srgbClr val="2B4C6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9875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OUTCOMES &amp; CONTEXT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₹3.4L Cr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cost overrun across 1,775 monitored central sector infrastructure projects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4C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MoSPI, Jul 2026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76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194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monitored portfolio value sits in the Energy sector, which includes oil and gas infrastructure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788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B4C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MoSPI, Jul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26680" y="1508760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F3E4C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909560" y="150876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Sector-scale context, not a projected saving from this tool.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638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creates impact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36301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385876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double-reporting for site supervisors; one low-friction entry instead of parallel spreadsheets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3566160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6792" y="36301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85876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reconciliation errors from cross-discipline wording mismatches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370832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44348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663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reflects confirmed progress, not a stale plan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4370832"/>
            <a:ext cx="5349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DE1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443484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4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46634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persists past project closure for future planning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230368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1C35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27608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hours saved per week = (manual reconciliation hours today) × (adoption rate)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614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terms measured in pilot deployment, not assumed.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for: site supervisors · planning engineers · project leadership · future project teams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5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B8760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36776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Kelley, J.E. &amp; Walker, M.R. (1959). Critical-Path Planning and Scheduling. ACM.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Reimers, N. &amp; Gurevych, I. (2019). Sentence-BERT. arXiv:1908.10084. Documented upgrade path for semantic linking, not what runs in this prototype.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63640" y="123444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B876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234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 TOOLS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636776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NetworkX — networkx.org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RapidFuzz — github.com/rapidfuzz/RapidFuzz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 TfidfVectorizer — scikit-learn.org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B8760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29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CONTEXT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831336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u="sng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 PAIMANA Portal — Infrastructure &amp; Project Monitoring Division, Government of India.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429000"/>
            <a:ext cx="2377440" cy="310896"/>
          </a:xfrm>
          <a:prstGeom prst="roundRect">
            <a:avLst>
              <a:gd name="adj" fmla="val 14706"/>
            </a:avLst>
          </a:prstGeom>
          <a:solidFill>
            <a:srgbClr val="B8760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3429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831336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7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Popeye — SIH26122-schedule-linking-engine repository (add GitHub link after push).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AA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Popeye · Smart India Hackathon 2026 · PS SIH26122 · Oil India Limited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2026-09-16T06:43:25Z</dcterms:created>
  <dcterms:modified xsi:type="dcterms:W3CDTF">2026-09-16T06:43:25Z</dcterms:modified>
</cp:coreProperties>
</file>